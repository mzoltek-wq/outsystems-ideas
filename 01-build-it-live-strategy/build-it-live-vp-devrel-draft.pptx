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cd9c201b794b80" /><Relationship Type="http://schemas.openxmlformats.org/officeDocument/2006/relationships/extended-properties" Target="/docProps/app.xml" Id="R37129105bb0242b1" /><Relationship Type="http://schemas.openxmlformats.org/officeDocument/2006/relationships/officeDocument" Target="/ppt/presentation.xml" Id="R11467e16b0c941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ae601f1dc4b0c"/>
  </p:sldMasterIdLst>
  <p:notesMasterIdLst>
    <p:notesMasterId xmlns:r="http://schemas.openxmlformats.org/officeDocument/2006/relationships" r:id="Rb695f3929a3c419d"/>
  </p:notesMasterIdLst>
  <p:sldIdLst>
    <p:sldId xmlns:r="http://schemas.openxmlformats.org/officeDocument/2006/relationships" id="256" r:id="Rdc0473ea08024ac9"/>
    <p:sldId xmlns:r="http://schemas.openxmlformats.org/officeDocument/2006/relationships" id="257" r:id="R08f01402000d43eb"/>
    <p:sldId xmlns:r="http://schemas.openxmlformats.org/officeDocument/2006/relationships" id="258" r:id="R2b2d5036f6ce4ca7"/>
    <p:sldId xmlns:r="http://schemas.openxmlformats.org/officeDocument/2006/relationships" id="259" r:id="Rca75858cd9264b44"/>
    <p:sldId xmlns:r="http://schemas.openxmlformats.org/officeDocument/2006/relationships" id="260" r:id="R5b494f77f1d648fb"/>
    <p:sldId xmlns:r="http://schemas.openxmlformats.org/officeDocument/2006/relationships" id="261" r:id="Re51ab23aa18f4042"/>
    <p:sldId xmlns:r="http://schemas.openxmlformats.org/officeDocument/2006/relationships" id="262" r:id="R28b34b50b8ed41f6"/>
    <p:sldId xmlns:r="http://schemas.openxmlformats.org/officeDocument/2006/relationships" id="263" r:id="R7d21bab4a7fb4f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7c38256e94620" /><Relationship Type="http://schemas.openxmlformats.org/officeDocument/2006/relationships/slideMaster" Target="/ppt/slideMasters/slideMaster1.xml" Id="R16eae601f1dc4b0c" /><Relationship Type="http://schemas.openxmlformats.org/officeDocument/2006/relationships/notesMaster" Target="/ppt/notesMasters/notesMaster1.xml" Id="Rb695f3929a3c419d" /><Relationship Type="http://schemas.openxmlformats.org/officeDocument/2006/relationships/presProps" Target="/ppt/presProps.xml" Id="R323fc49224dc4d13" /><Relationship Type="http://schemas.openxmlformats.org/officeDocument/2006/relationships/tableStyles" Target="/ppt/tableStyles.xml" Id="Rd86d9aef3332422d" /><Relationship Type="http://schemas.openxmlformats.org/officeDocument/2006/relationships/slide" Target="/ppt/slides/slide1.xml" Id="Rdc0473ea08024ac9" /><Relationship Type="http://schemas.openxmlformats.org/officeDocument/2006/relationships/slide" Target="/ppt/slides/slide2.xml" Id="R08f01402000d43eb" /><Relationship Type="http://schemas.openxmlformats.org/officeDocument/2006/relationships/slide" Target="/ppt/slides/slide3.xml" Id="R2b2d5036f6ce4ca7" /><Relationship Type="http://schemas.openxmlformats.org/officeDocument/2006/relationships/slide" Target="/ppt/slides/slide4.xml" Id="Rca75858cd9264b44" /><Relationship Type="http://schemas.openxmlformats.org/officeDocument/2006/relationships/slide" Target="/ppt/slides/slide5.xml" Id="R5b494f77f1d648fb" /><Relationship Type="http://schemas.openxmlformats.org/officeDocument/2006/relationships/slide" Target="/ppt/slides/slide6.xml" Id="Re51ab23aa18f4042" /><Relationship Type="http://schemas.openxmlformats.org/officeDocument/2006/relationships/slide" Target="/ppt/slides/slide7.xml" Id="R28b34b50b8ed41f6" /><Relationship Type="http://schemas.openxmlformats.org/officeDocument/2006/relationships/slide" Target="/ppt/slides/slide8.xml" Id="R7d21bab4a7fb4f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97c4bd2d5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e4ab6278944d6" /><Relationship Type="http://schemas.openxmlformats.org/officeDocument/2006/relationships/notesMaster" Target="/ppt/notesMasters/notesMaster1.xml" Id="R44cd774642d9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ee34e781714670" /><Relationship Type="http://schemas.openxmlformats.org/officeDocument/2006/relationships/notesMaster" Target="/ppt/notesMasters/notesMaster1.xml" Id="R244ae5d3905147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c8d1c56b0040e7" /><Relationship Type="http://schemas.openxmlformats.org/officeDocument/2006/relationships/notesMaster" Target="/ppt/notesMasters/notesMaster1.xml" Id="Rf145f98cf801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c3cf410ca4888" /><Relationship Type="http://schemas.openxmlformats.org/officeDocument/2006/relationships/notesMaster" Target="/ppt/notesMasters/notesMaster1.xml" Id="R29c17ca74c0f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ff7b751714311" /><Relationship Type="http://schemas.openxmlformats.org/officeDocument/2006/relationships/notesMaster" Target="/ppt/notesMasters/notesMaster1.xml" Id="Rd8ab55e27ac747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4e80438aef4210" /><Relationship Type="http://schemas.openxmlformats.org/officeDocument/2006/relationships/notesMaster" Target="/ppt/notesMasters/notesMaster1.xml" Id="R906b674aa0e84b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0118b69454a91" /><Relationship Type="http://schemas.openxmlformats.org/officeDocument/2006/relationships/notesMaster" Target="/ppt/notesMasters/notesMaster1.xml" Id="Ra94f733ea79442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7019d3b2e1498b" /><Relationship Type="http://schemas.openxmlformats.org/officeDocument/2006/relationships/notesMaster" Target="/ppt/notesMasters/notesMaster1.xml" Id="Rbb29a9149c5c4c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this as a DevRel engine, not a show pitch.</a:t>
            </a:r>
          </a:p>
          <a:p xmlns:a="http://schemas.openxmlformats.org/drawingml/2006/main">
            <a:r>
              <a:t>The simple premise: developers ask whether OutSystems can build something, and the team answers with a working build and reusable assets.</a:t>
            </a:r>
          </a:p>
          <a:p xmlns:a="http://schemas.openxmlformats.org/drawingml/2006/main">
            <a:r>
              <a:t>Keep the first slide short, then move quickly into the gap and the operating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gap without sounding negative about existing content.</a:t>
            </a:r>
          </a:p>
          <a:p xmlns:a="http://schemas.openxmlformats.org/drawingml/2006/main">
            <a:r>
              <a:t>The key idea is demand capture: every good submission reveals a question developers already have.</a:t>
            </a:r>
          </a:p>
          <a:p xmlns:a="http://schemas.openxmlformats.org/drawingml/2006/main">
            <a:r>
              <a:t>Mention AEO only briefly unless the VP leans into it; the practical examples and launch support are likely the more immediate hooks.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switch from idea to evidence.</a:t>
            </a:r>
          </a:p>
          <a:p xmlns:a="http://schemas.openxmlformats.org/drawingml/2006/main">
            <a:r>
              <a:t>Say that the screenshot is the first version of the intake surface, not the final brand experience.</a:t>
            </a:r>
          </a:p>
          <a:p xmlns:a="http://schemas.openxmlformats.org/drawingml/2006/main">
            <a:r>
              <a:t>The important part is that the mechanism exists: capture ideas, tag them, notify the team, and build a content backlog.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VP through this as a lightweight operating rhythm.</a:t>
            </a:r>
          </a:p>
          <a:p xmlns:a="http://schemas.openxmlformats.org/drawingml/2006/main">
            <a:r>
              <a:t>Emphasize that the team can group requests to avoid a scattered content calendar.</a:t>
            </a:r>
          </a:p>
          <a:p xmlns:a="http://schemas.openxmlformats.org/drawingml/2006/main">
            <a:r>
              <a:t>The loop is the real idea: submissions feed episodes, episodes feed assets, assets drive discovery, discovery creates more submissions.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slide for making the idea feel operational.</a:t>
            </a:r>
          </a:p>
          <a:p xmlns:a="http://schemas.openxmlformats.org/drawingml/2006/main">
            <a:r>
              <a:t>The point is not that every episode needs every artifact. The point is that the default unit of work is a package, not a single video.</a:t>
            </a:r>
          </a:p>
          <a:p xmlns:a="http://schemas.openxmlformats.org/drawingml/2006/main">
            <a:r>
              <a:t>Use the example request to make the content bundle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tie the idea to the VP's likely priorities.</a:t>
            </a:r>
          </a:p>
          <a:p xmlns:a="http://schemas.openxmlformats.org/drawingml/2006/main">
            <a:r>
              <a:t>Avoid selling it as a vanity content play. The reuse channels make it much more durable.</a:t>
            </a:r>
          </a:p>
          <a:p xmlns:a="http://schemas.openxmlformats.org/drawingml/2006/main">
            <a:r>
              <a:t>Metrics should be treated as learning signals in the pilot, not as a giant reporting burden.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direct product-marketing and DevRel bridge.</a:t>
            </a:r>
          </a:p>
          <a:p xmlns:a="http://schemas.openxmlformats.org/drawingml/2006/main">
            <a:r>
              <a:t>Position launch alignment as optional but high-value: not every episode needs to be launch-tied, but releases are stronger when there is an immediate demo.</a:t>
            </a:r>
          </a:p>
          <a:p xmlns:a="http://schemas.openxmlformats.org/drawingml/2006/main">
            <a:r>
              <a:t>For vaporware or early features, suggest a controlled prototype or concept episode with the right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crisp ask instead of a generic thank-you slide.</a:t>
            </a:r>
          </a:p>
          <a:p xmlns:a="http://schemas.openxmlformats.org/drawingml/2006/main">
            <a:r>
              <a:t>This is deliberately scoped as a pilot: six episodes, 8-10 weeks, with clear learning metrics.</a:t>
            </a:r>
          </a:p>
          <a:p xmlns:a="http://schemas.openxmlformats.org/drawingml/2006/main">
            <a:r>
              <a:t>Ask whether DevRel would sponsor the pilot and where it could align with near-term launches.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d31410e59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1bae2fbc7748f4" /><Relationship Type="http://schemas.openxmlformats.org/officeDocument/2006/relationships/slideLayout" Target="/ppt/slideLayouts/slideLayout1.xml" Id="Rd304fab0f089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4fab0f089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6128d672741ea" /><Relationship Type="http://schemas.openxmlformats.org/officeDocument/2006/relationships/notesSlide" Target="/ppt/notesSlides/notesSlide1.xml" Id="R160496817496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9240fcbe14c71" /><Relationship Type="http://schemas.openxmlformats.org/officeDocument/2006/relationships/notesSlide" Target="/ppt/notesSlides/notesSlide2.xml" Id="Rc09655b6e7d544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3b543591a4fe9" /><Relationship Type="http://schemas.openxmlformats.org/officeDocument/2006/relationships/image" Target="/ppt/media/image.png" Id="R47010f34e3c94889" /><Relationship Type="http://schemas.openxmlformats.org/officeDocument/2006/relationships/notesSlide" Target="/ppt/notesSlides/notesSlide3.xml" Id="R8a33c134ab254d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6d40104c74be2" /><Relationship Type="http://schemas.openxmlformats.org/officeDocument/2006/relationships/notesSlide" Target="/ppt/notesSlides/notesSlide4.xml" Id="Rac65324068314c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db9e42d26436a" /><Relationship Type="http://schemas.openxmlformats.org/officeDocument/2006/relationships/notesSlide" Target="/ppt/notesSlides/notesSlide5.xml" Id="R4a903cc7c30748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b462d24464cfb" /><Relationship Type="http://schemas.openxmlformats.org/officeDocument/2006/relationships/notesSlide" Target="/ppt/notesSlides/notesSlide6.xml" Id="Rba761e5daa2141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99b3093ee4f46" /><Relationship Type="http://schemas.openxmlformats.org/officeDocument/2006/relationships/notesSlide" Target="/ppt/notesSlides/notesSlide7.xml" Id="R9a201fd7abe14a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1bd57cbfb44de" /><Relationship Type="http://schemas.openxmlformats.org/officeDocument/2006/relationships/notesSlide" Target="/ppt/notesSlides/notesSlide8.xml" Id="R1100d65026354b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d-band">
            <a:extLst xmlns:a="http://schemas.openxmlformats.org/drawingml/2006/main">
              <a:ext uri="{FF2B5EF4-FFF2-40B4-BE49-F238E27FC236}">
                <a16:creationId xmlns:a16="http://schemas.microsoft.com/office/drawing/2014/main" id="{A8863EAE-6911-4E4A-AB42-98AD442B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ft-panel">
            <a:extLst xmlns:a="http://schemas.openxmlformats.org/drawingml/2006/main">
              <a:ext uri="{FF2B5EF4-FFF2-40B4-BE49-F238E27FC236}">
                <a16:creationId xmlns:a16="http://schemas.microsoft.com/office/drawing/2014/main" id="{C244D1A4-8C40-44E4-95DE-B0F610EF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6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d-ring">
            <a:extLst xmlns:a="http://schemas.openxmlformats.org/drawingml/2006/main">
              <a:ext uri="{FF2B5EF4-FFF2-40B4-BE49-F238E27FC236}">
                <a16:creationId xmlns:a16="http://schemas.microsoft.com/office/drawing/2014/main" id="{027066BD-56D6-4EB9-A9AA-DD49B98D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d-ring-hole">
            <a:extLst xmlns:a="http://schemas.openxmlformats.org/drawingml/2006/main">
              <a:ext uri="{FF2B5EF4-FFF2-40B4-BE49-F238E27FC236}">
                <a16:creationId xmlns:a16="http://schemas.microsoft.com/office/drawing/2014/main" id="{D91C99A2-BCC6-40BD-9F48-C6E2D333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81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16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7F6905B2-3E3E-45C6-B052-DFD41112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</a:defRPr>
            </a:pPr>
            <a:r>
              <a:rPr sz="5100" b="1" i="0">
                <a:solidFill>
                  <a:srgbClr val="FFFFFF"/>
                </a:solidFill>
              </a:rPr>
              <a:t>Build It Live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1AAF2E4-AFF0-4EC4-B37A-3A58D919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2E9E5"/>
                </a:solidFill>
              </a:defRPr>
            </a:pPr>
            <a:r>
              <a:rPr sz="2100" b="0" i="0">
                <a:solidFill>
                  <a:srgbClr val="F2E9E5"/>
                </a:solidFill>
              </a:rPr>
              <a:t>Turning real developer questions into practical OutSystems proof points.</a:t>
            </a:r>
          </a:p>
        </p:txBody>
      </p:sp>
      <p:sp>
        <p:nvSpPr>
          <p:cNvPr id="7" name="deck-thesis">
            <a:extLst xmlns:a="http://schemas.openxmlformats.org/drawingml/2006/main">
              <a:ext uri="{FF2B5EF4-FFF2-40B4-BE49-F238E27FC236}">
                <a16:creationId xmlns:a16="http://schemas.microsoft.com/office/drawing/2014/main" id="{20DC36C0-C345-49CA-8142-94CED729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7CEC9"/>
                </a:solidFill>
              </a:defRPr>
            </a:pPr>
            <a:r>
              <a:rPr sz="1575" b="0" i="0">
                <a:solidFill>
                  <a:srgbClr val="D7CEC9"/>
                </a:solidFill>
              </a:rPr>
              <a:t>A lightweight DevRel pilot for practical demos, launch support, and reusable developer assets.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090118-C59A-441D-85E5-D1468B8D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14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8B8B2"/>
                </a:solidFill>
              </a:defRPr>
            </a:pPr>
            <a:r>
              <a:rPr sz="1200" b="1" i="0">
                <a:solidFill>
                  <a:srgbClr val="F8B8B2"/>
                </a:solidFill>
              </a:rPr>
              <a:t>COMMUNITY ASKS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BE2BF2-44E8-4964-8733-D8FBA503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8B8B2"/>
                </a:solidFill>
              </a:defRPr>
            </a:pPr>
            <a:r>
              <a:rPr sz="1200" b="1" i="0">
                <a:solidFill>
                  <a:srgbClr val="F8B8B2"/>
                </a:solidFill>
              </a:rPr>
              <a:t>OUTSYSTEMS BUILDS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F738CC6-AB98-431A-A34B-41F2B148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71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8B8B2"/>
                </a:solidFill>
              </a:defRPr>
            </a:pPr>
            <a:r>
              <a:rPr sz="1200" b="1" i="0">
                <a:solidFill>
                  <a:srgbClr val="F8B8B2"/>
                </a:solidFill>
              </a:rPr>
              <a:t>ASSETS COMPOUND</a:t>
            </a:r>
          </a:p>
        </p:txBody>
      </p:sp>
      <p:sp>
        <p:nvSpPr>
          <p:cNvPr id="11" name="right-line-1">
            <a:extLst xmlns:a="http://schemas.openxmlformats.org/drawingml/2006/main">
              <a:ext uri="{FF2B5EF4-FFF2-40B4-BE49-F238E27FC236}">
                <a16:creationId xmlns:a16="http://schemas.microsoft.com/office/drawing/2014/main" id="{F8E0487E-DE14-4534-BE07-DD0584EC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ght-line-2">
            <a:extLst xmlns:a="http://schemas.openxmlformats.org/drawingml/2006/main">
              <a:ext uri="{FF2B5EF4-FFF2-40B4-BE49-F238E27FC236}">
                <a16:creationId xmlns:a16="http://schemas.microsoft.com/office/drawing/2014/main" id="{00ECB65C-CE6D-4CF2-90C3-5DD828E9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147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2E470D5-222F-47C3-BA19-744CE0A8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3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CE42126C-7D27-4CCD-BC27-1E2D679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C9BDB8"/>
                </a:solidFill>
              </a:defRPr>
            </a:pPr>
            <a:r>
              <a:rPr sz="975" b="0" i="0">
                <a:solidFill>
                  <a:srgbClr val="C9BDB8"/>
                </a:solidFill>
              </a:rPr>
              <a:t>Build It Live / 1</a:t>
            </a:r>
          </a:p>
        </p:txBody>
      </p:sp>
    </p:spTree>
    <p:extLst>
      <p:ext uri="{BB962C8B-B14F-4D97-AF65-F5344CB8AC3E}">
        <p14:creationId xmlns:p14="http://schemas.microsoft.com/office/powerpoint/2010/main" val="631068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4BE0F8F-D8CB-4F1B-A181-94A6F4D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291C"/>
                </a:solidFill>
              </a:defRPr>
            </a:pPr>
            <a:r>
              <a:rPr sz="900" b="1" i="0">
                <a:solidFill>
                  <a:srgbClr val="D9291C"/>
                </a:solidFill>
              </a:rPr>
              <a:t>THE OPPORTUNITY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A3D4F-7161-4917-AE8A-C0891A3F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C1B1A"/>
                </a:solidFill>
              </a:defRPr>
            </a:pPr>
            <a:r>
              <a:rPr sz="3000" b="1" i="0">
                <a:solidFill>
                  <a:srgbClr val="1C1B1A"/>
                </a:solidFill>
              </a:rPr>
              <a:t>Developers need proof they can reuse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CB45BAD-FBB5-458D-A1F4-41BADF21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962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2928"/>
                </a:solidFill>
              </a:defRPr>
            </a:pPr>
            <a:r>
              <a:rPr sz="1800" b="0" i="0">
                <a:solidFill>
                  <a:srgbClr val="2C2928"/>
                </a:solidFill>
              </a:rPr>
              <a:t>OutSystems has strong capabilities, but developer audiences often need concrete examples before they believe a platform can help with their own work.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AB3066AB-1212-434B-9E17-1236630B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2685C9-4E2B-495B-BDAC-B06BED86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D9291C"/>
                </a:solidFill>
              </a:defRPr>
            </a:pPr>
            <a:r>
              <a:rPr sz="2625" b="1" i="0">
                <a:solidFill>
                  <a:srgbClr val="D9291C"/>
                </a:solidFill>
              </a:rPr>
              <a:t>Can OutSystems do this?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13842A-8612-4A98-A880-878A7A21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6660"/>
                </a:solidFill>
              </a:defRPr>
            </a:pPr>
            <a:r>
              <a:rPr sz="1350" b="0" i="0">
                <a:solidFill>
                  <a:srgbClr val="6D6660"/>
                </a:solidFill>
              </a:rPr>
              <a:t>That question is a demand signal. Build It Live turns it into proof.</a:t>
            </a:r>
          </a:p>
        </p:txBody>
      </p:sp>
      <p:sp>
        <p:nvSpPr>
          <p:cNvPr id="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AF210F3-BD82-41FE-85A6-B452F817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0495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5AACE845-BB36-4110-98FF-7EFA7B4A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Practical examples</a:t>
            </a:r>
          </a:p>
        </p:txBody>
      </p:sp>
      <p:sp>
        <p:nvSpPr>
          <p:cNvPr id="9" name="metric-body">
            <a:extLst xmlns:a="http://schemas.openxmlformats.org/drawingml/2006/main">
              <a:ext uri="{FF2B5EF4-FFF2-40B4-BE49-F238E27FC236}">
                <a16:creationId xmlns:a16="http://schemas.microsoft.com/office/drawing/2014/main" id="{ECBB1B5F-C841-42F8-96CB-05CC38B8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361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More real builds make the platform easier to understand, evaluate, and share.</a:t>
            </a:r>
          </a:p>
        </p:txBody>
      </p:sp>
      <p:sp>
        <p:nvSpPr>
          <p:cNvPr id="10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CC2CE02-13F9-4A22-8649-EF6EED02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47FEFF06-7A99-4BAB-871D-3D13BE4C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Launch proof</a:t>
            </a:r>
          </a:p>
        </p:txBody>
      </p:sp>
      <p:sp>
        <p:nvSpPr>
          <p:cNvPr id="12" name="metric-body">
            <a:extLst xmlns:a="http://schemas.openxmlformats.org/drawingml/2006/main">
              <a:ext uri="{FF2B5EF4-FFF2-40B4-BE49-F238E27FC236}">
                <a16:creationId xmlns:a16="http://schemas.microsoft.com/office/drawing/2014/main" id="{91BC5A0C-AB97-47BF-8CF9-11FA5B8D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361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Feature announcements become stronger when paired with a fast, credible build.</a:t>
            </a:r>
          </a:p>
        </p:txBody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15EC360-768F-4D2F-B3ED-C726E4ED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8155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C6E4A829-F36A-4FFE-8AFD-6C47C37F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91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Search visibility</a:t>
            </a:r>
          </a:p>
        </p:txBody>
      </p:sp>
      <p:sp>
        <p:nvSpPr>
          <p:cNvPr id="15" name="metric-body">
            <a:extLst xmlns:a="http://schemas.openxmlformats.org/drawingml/2006/main">
              <a:ext uri="{FF2B5EF4-FFF2-40B4-BE49-F238E27FC236}">
                <a16:creationId xmlns:a16="http://schemas.microsoft.com/office/drawing/2014/main" id="{71674B4E-8093-4894-B88D-265BA269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91150"/>
            <a:ext cx="361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Specific demos, repos, docs, and clips give search and AI answer engines better material to cite.</a:t>
            </a:r>
          </a:p>
        </p:txBody>
      </p:sp>
      <p:sp>
        <p:nvSpPr>
          <p:cNvPr id="16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6D8C61F-D61C-4C5F-8BE1-DA2384BD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D385159B-6770-4B7B-B6B5-9D94ED11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Build It Live / 2</a:t>
            </a:r>
          </a:p>
        </p:txBody>
      </p:sp>
    </p:spTree>
    <p:extLst>
      <p:ext uri="{BB962C8B-B14F-4D97-AF65-F5344CB8AC3E}">
        <p14:creationId xmlns:p14="http://schemas.microsoft.com/office/powerpoint/2010/main" val="1783003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93A7F18-6804-495D-858A-DBC35093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291C"/>
                </a:solidFill>
              </a:defRPr>
            </a:pPr>
            <a:r>
              <a:rPr sz="900" b="1" i="0">
                <a:solidFill>
                  <a:srgbClr val="D9291C"/>
                </a:solidFill>
              </a:rPr>
              <a:t>THE INTAKE LAYER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39A4C4-5EF2-4576-8DFF-F2706348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C1B1A"/>
                </a:solidFill>
              </a:defRPr>
            </a:pPr>
            <a:r>
              <a:rPr sz="3000" b="1" i="0">
                <a:solidFill>
                  <a:srgbClr val="1C1B1A"/>
                </a:solidFill>
              </a:rPr>
              <a:t>The engine starts with real requests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445854-CEAD-4AF2-A0DC-29C39860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181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2928"/>
                </a:solidFill>
              </a:defRPr>
            </a:pPr>
            <a:r>
              <a:rPr sz="1800" b="0" i="0">
                <a:solidFill>
                  <a:srgbClr val="2C2928"/>
                </a:solidFill>
              </a:rPr>
              <a:t>A simple submission flow lets internal teams, customers, partners, and community members tell DevRel what they want to see built.</a:t>
            </a:r>
          </a:p>
        </p:txBody>
      </p:sp>
      <p:sp>
        <p:nvSpPr>
          <p:cNvPr id="4" name="bullet-dot">
            <a:extLst xmlns:a="http://schemas.openxmlformats.org/drawingml/2006/main">
              <a:ext uri="{FF2B5EF4-FFF2-40B4-BE49-F238E27FC236}">
                <a16:creationId xmlns:a16="http://schemas.microsoft.com/office/drawing/2014/main" id="{DAAE2580-036B-4757-BB22-A1254B83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AE8FE5B-120A-435E-8B3E-5D46B0EE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C1B1A"/>
                </a:solidFill>
              </a:defRPr>
            </a:pPr>
            <a:r>
              <a:rPr sz="1500" b="0" i="0">
                <a:solidFill>
                  <a:srgbClr val="1C1B1A"/>
                </a:solidFill>
              </a:rPr>
              <a:t>Capture idea, use case, agentic layer, integrations, and submitter context.</a:t>
            </a:r>
          </a:p>
        </p:txBody>
      </p:sp>
      <p:sp>
        <p:nvSpPr>
          <p:cNvPr id="6" name="bullet-dot">
            <a:extLst xmlns:a="http://schemas.openxmlformats.org/drawingml/2006/main">
              <a:ext uri="{FF2B5EF4-FFF2-40B4-BE49-F238E27FC236}">
                <a16:creationId xmlns:a16="http://schemas.microsoft.com/office/drawing/2014/main" id="{C6FD4A88-DF4C-4C61-82DB-1915EFE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E6D110C-1A48-4134-95F7-8CA558F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C1B1A"/>
                </a:solidFill>
              </a:defRPr>
            </a:pPr>
            <a:r>
              <a:rPr sz="1500" b="0" i="0">
                <a:solidFill>
                  <a:srgbClr val="1C1B1A"/>
                </a:solidFill>
              </a:rPr>
              <a:t>Notify the team as requests arrive and build a reviewable backlog.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F119F76C-DF6B-4924-9609-60968B58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1082AAC-30E7-4141-B411-188E8D69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C1B1A"/>
                </a:solidFill>
              </a:defRPr>
            </a:pPr>
            <a:r>
              <a:rPr sz="1500" b="0" i="0">
                <a:solidFill>
                  <a:srgbClr val="1C1B1A"/>
                </a:solidFill>
              </a:rPr>
              <a:t>Group similar asks into higher-value episodes instead of treating every request as one-off.</a:t>
            </a:r>
          </a:p>
        </p:txBody>
      </p:sp>
      <p:sp>
        <p:nvSpPr>
          <p:cNvPr id="10" name="screenshot-bg">
            <a:extLst xmlns:a="http://schemas.openxmlformats.org/drawingml/2006/main">
              <a:ext uri="{FF2B5EF4-FFF2-40B4-BE49-F238E27FC236}">
                <a16:creationId xmlns:a16="http://schemas.microsoft.com/office/drawing/2014/main" id="{4571041C-DD97-457A-A70D-4AE4951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52550"/>
            <a:ext cx="46291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10f34e3c94889"/>
          <a:srcRect xmlns:a="http://schemas.openxmlformats.org/drawingml/2006/main" l="0" t="8833" r="0" b="8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6525" y="1504950"/>
            <a:ext cx="4324350" cy="3962400"/>
          </a:xfrm>
          <a:prstGeom xmlns:a="http://schemas.openxmlformats.org/drawingml/2006/main" prst="roundRect">
            <a:avLst>
              <a:gd name="adj" fmla="val 1923"/>
            </a:avLst>
          </a:prstGeom>
        </p:spPr>
      </p:pic>
      <p:sp>
        <p:nvSpPr>
          <p:cNvPr id="12" name="tag-bg">
            <a:extLst xmlns:a="http://schemas.openxmlformats.org/drawingml/2006/main">
              <a:ext uri="{FF2B5EF4-FFF2-40B4-BE49-F238E27FC236}">
                <a16:creationId xmlns:a16="http://schemas.microsoft.com/office/drawing/2014/main" id="{87838B56-E076-436D-BE7E-95C34394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19750"/>
            <a:ext cx="1771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291C"/>
            </a:solidFill>
            <a:prstDash val="solid"/>
          </a:ln>
        </p:spPr>
      </p:sp>
      <p:sp>
        <p:nvSpPr>
          <p:cNvPr id="13" name="tag-text">
            <a:extLst xmlns:a="http://schemas.openxmlformats.org/drawingml/2006/main">
              <a:ext uri="{FF2B5EF4-FFF2-40B4-BE49-F238E27FC236}">
                <a16:creationId xmlns:a16="http://schemas.microsoft.com/office/drawing/2014/main" id="{893CB168-7820-451A-9545-76DB54C0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864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9291C"/>
                </a:solidFill>
              </a:defRPr>
            </a:pPr>
            <a:r>
              <a:rPr sz="975" b="1" i="0">
                <a:solidFill>
                  <a:srgbClr val="D9291C"/>
                </a:solidFill>
              </a:rPr>
              <a:t>already started</a:t>
            </a:r>
          </a:p>
        </p:txBody>
      </p:sp>
      <p:sp>
        <p:nvSpPr>
          <p:cNvPr id="1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3EB38E3-01DB-4AC1-A83F-1914719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DB037601-28D4-42DB-80EF-D7DB40FF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Build It Live / 3</a:t>
            </a:r>
          </a:p>
        </p:txBody>
      </p:sp>
    </p:spTree>
    <p:extLst>
      <p:ext uri="{BB962C8B-B14F-4D97-AF65-F5344CB8AC3E}">
        <p14:creationId xmlns:p14="http://schemas.microsoft.com/office/powerpoint/2010/main" val="831818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12679CA-A5D3-49C4-91C3-931E817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291C"/>
                </a:solidFill>
              </a:defRPr>
            </a:pPr>
            <a:r>
              <a:rPr sz="900" b="1" i="0">
                <a:solidFill>
                  <a:srgbClr val="D9291C"/>
                </a:solidFill>
              </a:rPr>
              <a:t>OPERATING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6DDA87-0BF0-4E50-A162-5BFB7A71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C1B1A"/>
                </a:solidFill>
              </a:defRPr>
            </a:pPr>
            <a:r>
              <a:rPr sz="3000" b="1" i="0">
                <a:solidFill>
                  <a:srgbClr val="1C1B1A"/>
                </a:solidFill>
              </a:rPr>
              <a:t>A request becomes a repeatable content motion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32DFE2C-4850-435F-809E-FB82EBD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D6660"/>
                </a:solidFill>
              </a:defRPr>
            </a:pPr>
            <a:r>
              <a:rPr sz="1650" b="0" i="0">
                <a:solidFill>
                  <a:srgbClr val="6D6660"/>
                </a:solidFill>
              </a:rPr>
              <a:t>The workflow is deliberately simple so DevRel can pilot it before building a larger program around it.</a:t>
            </a:r>
          </a:p>
        </p:txBody>
      </p:sp>
      <p:sp>
        <p:nvSpPr>
          <p:cNvPr id="4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07158CD2-02CE-4EE0-A178-B0707E6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44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5" name="pipeline-bar">
            <a:extLst xmlns:a="http://schemas.openxmlformats.org/drawingml/2006/main">
              <a:ext uri="{FF2B5EF4-FFF2-40B4-BE49-F238E27FC236}">
                <a16:creationId xmlns:a16="http://schemas.microsoft.com/office/drawing/2014/main" id="{5471C0B0-73A7-4926-80A0-7FBA5381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F93EEA-2BC7-493D-B817-6E225DC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Submit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D61094-AF0D-400C-BA39-6EF17394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765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Ideas arrive from internal and external audiences.</a:t>
            </a:r>
          </a:p>
        </p:txBody>
      </p:sp>
      <p:sp>
        <p:nvSpPr>
          <p:cNvPr id="8" name="pipeline-connector">
            <a:extLst xmlns:a="http://schemas.openxmlformats.org/drawingml/2006/main">
              <a:ext uri="{FF2B5EF4-FFF2-40B4-BE49-F238E27FC236}">
                <a16:creationId xmlns:a16="http://schemas.microsoft.com/office/drawing/2014/main" id="{A9668457-F89C-4E70-B340-6914EC6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47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C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71CD3B2D-1DBF-4450-97CA-855C7BB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28875"/>
            <a:ext cx="144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10" name="pipeline-bar">
            <a:extLst xmlns:a="http://schemas.openxmlformats.org/drawingml/2006/main">
              <a:ext uri="{FF2B5EF4-FFF2-40B4-BE49-F238E27FC236}">
                <a16:creationId xmlns:a16="http://schemas.microsoft.com/office/drawing/2014/main" id="{87E70981-988C-4947-9C70-2D1734E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28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FB93575-7970-41E3-953F-8760C541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Review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101C0B-29B0-4007-BA8A-34D2A081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765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DevRel and product triage fit, timing, and risk.</a:t>
            </a:r>
          </a:p>
        </p:txBody>
      </p:sp>
      <p:sp>
        <p:nvSpPr>
          <p:cNvPr id="13" name="pipeline-connector">
            <a:extLst xmlns:a="http://schemas.openxmlformats.org/drawingml/2006/main">
              <a:ext uri="{FF2B5EF4-FFF2-40B4-BE49-F238E27FC236}">
                <a16:creationId xmlns:a16="http://schemas.microsoft.com/office/drawing/2014/main" id="{2BB9A68E-CF76-4493-85BB-44DA06A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247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C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C1CBF5E0-2B3A-46F4-813F-F904C09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28875"/>
            <a:ext cx="144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15" name="pipeline-bar">
            <a:extLst xmlns:a="http://schemas.openxmlformats.org/drawingml/2006/main">
              <a:ext uri="{FF2B5EF4-FFF2-40B4-BE49-F238E27FC236}">
                <a16:creationId xmlns:a16="http://schemas.microsoft.com/office/drawing/2014/main" id="{123F0C60-49AD-462F-AD51-D030C630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28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DDF3DC0-1E08-40E9-9997-0E13E0B1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Group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3867A0D-E981-4E89-B8C6-D4DE9D9F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765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Related asks become an episode theme.</a:t>
            </a:r>
          </a:p>
        </p:txBody>
      </p:sp>
      <p:sp>
        <p:nvSpPr>
          <p:cNvPr id="18" name="pipeline-connector">
            <a:extLst xmlns:a="http://schemas.openxmlformats.org/drawingml/2006/main">
              <a:ext uri="{FF2B5EF4-FFF2-40B4-BE49-F238E27FC236}">
                <a16:creationId xmlns:a16="http://schemas.microsoft.com/office/drawing/2014/main" id="{00ABB89A-8D58-4AC4-95BC-C0462CC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247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C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2A465C84-ACCC-4D70-BFD1-13F4CFB3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44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20" name="pipeline-bar">
            <a:extLst xmlns:a="http://schemas.openxmlformats.org/drawingml/2006/main">
              <a:ext uri="{FF2B5EF4-FFF2-40B4-BE49-F238E27FC236}">
                <a16:creationId xmlns:a16="http://schemas.microsoft.com/office/drawing/2014/main" id="{DE1E50A1-D620-4C49-BB12-4791ED8C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560F73D-36C8-4B32-BF9E-A069FD82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Build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03DC107-56F4-48CE-9442-5D1D8321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765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Create the app, demo path, repo, and supporting notes.</a:t>
            </a:r>
          </a:p>
        </p:txBody>
      </p:sp>
      <p:sp>
        <p:nvSpPr>
          <p:cNvPr id="23" name="pipeline-connector">
            <a:extLst xmlns:a="http://schemas.openxmlformats.org/drawingml/2006/main">
              <a:ext uri="{FF2B5EF4-FFF2-40B4-BE49-F238E27FC236}">
                <a16:creationId xmlns:a16="http://schemas.microsoft.com/office/drawing/2014/main" id="{FD4BB3E1-D129-4CE3-B24E-FAB64148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247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C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E473831E-4B4B-4A4E-B8E1-6EC31EB7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28875"/>
            <a:ext cx="144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25" name="pipeline-bar">
            <a:extLst xmlns:a="http://schemas.openxmlformats.org/drawingml/2006/main">
              <a:ext uri="{FF2B5EF4-FFF2-40B4-BE49-F238E27FC236}">
                <a16:creationId xmlns:a16="http://schemas.microsoft.com/office/drawing/2014/main" id="{12A96069-4EF6-4C77-B3BA-91B2F51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28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A8A51FE-73B3-4577-ACD9-9117500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Publish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4FAE5D5-5B10-4DF5-B64B-72BD3FD6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765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Ship the long-form episode and derivative clips.</a:t>
            </a:r>
          </a:p>
        </p:txBody>
      </p:sp>
      <p:sp>
        <p:nvSpPr>
          <p:cNvPr id="28" name="pipeline-connector">
            <a:extLst xmlns:a="http://schemas.openxmlformats.org/drawingml/2006/main">
              <a:ext uri="{FF2B5EF4-FFF2-40B4-BE49-F238E27FC236}">
                <a16:creationId xmlns:a16="http://schemas.microsoft.com/office/drawing/2014/main" id="{37EC37B4-BB48-42F2-B814-847D73B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47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C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9E1CEA75-7DAB-4DCC-B054-DC87B9C7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28875"/>
            <a:ext cx="144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30" name="pipeline-bar">
            <a:extLst xmlns:a="http://schemas.openxmlformats.org/drawingml/2006/main">
              <a:ext uri="{FF2B5EF4-FFF2-40B4-BE49-F238E27FC236}">
                <a16:creationId xmlns:a16="http://schemas.microsoft.com/office/drawing/2014/main" id="{5C3EE4A9-A6AF-41A3-904F-3D87E056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28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49D0EFB-E10E-4BD9-A600-FCB346D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Reuse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074AEC6-3477-4D69-ABC8-EBFA0CE7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Package for Forge, GitHub, field teams, and docs.</a:t>
            </a:r>
          </a:p>
        </p:txBody>
      </p:sp>
      <p:sp>
        <p:nvSpPr>
          <p:cNvPr id="33" name="pipeline-connector">
            <a:extLst xmlns:a="http://schemas.openxmlformats.org/drawingml/2006/main">
              <a:ext uri="{FF2B5EF4-FFF2-40B4-BE49-F238E27FC236}">
                <a16:creationId xmlns:a16="http://schemas.microsoft.com/office/drawing/2014/main" id="{B7F35E30-B960-4397-9C9F-EDC50627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14650"/>
            <a:ext cx="247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3C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3417ADD4-54DF-4893-8EC1-DA9D2028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28875"/>
            <a:ext cx="1447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35" name="pipeline-bar">
            <a:extLst xmlns:a="http://schemas.openxmlformats.org/drawingml/2006/main">
              <a:ext uri="{FF2B5EF4-FFF2-40B4-BE49-F238E27FC236}">
                <a16:creationId xmlns:a16="http://schemas.microsoft.com/office/drawing/2014/main" id="{AFA054FB-257A-4730-9F4E-D660DD5B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28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C1D2E54-2927-4471-94FF-BC6E961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Measure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807534A-D710-4DBF-9321-44F3873D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0765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Track demand, engagement, reuse, and follow-on asks.</a:t>
            </a:r>
          </a:p>
        </p:txBody>
      </p:sp>
      <p:sp>
        <p:nvSpPr>
          <p:cNvPr id="38" name="loop-callout">
            <a:extLst xmlns:a="http://schemas.openxmlformats.org/drawingml/2006/main">
              <a:ext uri="{FF2B5EF4-FFF2-40B4-BE49-F238E27FC236}">
                <a16:creationId xmlns:a16="http://schemas.microsoft.com/office/drawing/2014/main" id="{5A820A79-0462-415C-BFCB-5FB3713D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91050"/>
            <a:ext cx="8305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2CBC7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FBB732D-C621-4176-97BB-A1461EB5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196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F1F18"/>
                </a:solidFill>
              </a:defRPr>
            </a:pPr>
            <a:r>
              <a:rPr sz="1650" b="1" i="0">
                <a:solidFill>
                  <a:srgbClr val="8F1F18"/>
                </a:solidFill>
              </a:rPr>
              <a:t>Every episode improves the next loop: better backlog, clearer release examples, and more reusable proof points.</a:t>
            </a:r>
          </a:p>
        </p:txBody>
      </p:sp>
      <p:sp>
        <p:nvSpPr>
          <p:cNvPr id="40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9BF99EF-E07E-49B3-ACC5-015A4BA1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93051FDA-C093-4F5B-912E-BDBB188A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Build It Live / 4</a:t>
            </a:r>
          </a:p>
        </p:txBody>
      </p:sp>
    </p:spTree>
    <p:extLst>
      <p:ext uri="{BB962C8B-B14F-4D97-AF65-F5344CB8AC3E}">
        <p14:creationId xmlns:p14="http://schemas.microsoft.com/office/powerpoint/2010/main" val="57426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3831E41-395E-4E7E-9E4E-B05800E2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291C"/>
                </a:solidFill>
              </a:defRPr>
            </a:pPr>
            <a:r>
              <a:rPr sz="900" b="1" i="0">
                <a:solidFill>
                  <a:srgbClr val="D9291C"/>
                </a:solidFill>
              </a:rPr>
              <a:t>EPISODE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D28B41-4AA8-48B8-8624-C2F6602D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C1B1A"/>
                </a:solidFill>
              </a:defRPr>
            </a:pPr>
            <a:r>
              <a:rPr sz="3000" b="1" i="0">
                <a:solidFill>
                  <a:srgbClr val="1C1B1A"/>
                </a:solidFill>
              </a:rPr>
              <a:t>One build becomes a reusable asset bundle</a:t>
            </a:r>
          </a:p>
        </p:txBody>
      </p:sp>
      <p:sp>
        <p:nvSpPr>
          <p:cNvPr id="3" name="example-band">
            <a:extLst xmlns:a="http://schemas.openxmlformats.org/drawingml/2006/main">
              <a:ext uri="{FF2B5EF4-FFF2-40B4-BE49-F238E27FC236}">
                <a16:creationId xmlns:a16="http://schemas.microsoft.com/office/drawing/2014/main" id="{5839CC6A-0F71-4C8B-90DD-B1CBD35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0195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C1B1A"/>
          </a:solidFill>
          <a:ln xmlns:a="http://schemas.openxmlformats.org/drawingml/2006/main" w="9525">
            <a:solidFill>
              <a:srgbClr val="1C1B1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08AFDF-044B-4CDE-9556-FFF8A6A8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8B8B2"/>
                </a:solidFill>
              </a:defRPr>
            </a:pPr>
            <a:r>
              <a:rPr sz="1125" b="1" i="0">
                <a:solidFill>
                  <a:srgbClr val="F8B8B2"/>
                </a:solidFill>
              </a:rPr>
              <a:t>Example request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DCE52E-14D8-477E-B16A-04C1B52F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Can OutSystems build an AI support triage app connected to an external service?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16BFF0-107F-4EF1-862A-A63FB536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2933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CEC9"/>
                </a:solidFill>
              </a:defRPr>
            </a:pPr>
            <a:r>
              <a:rPr sz="1350" b="0" i="0">
                <a:solidFill>
                  <a:srgbClr val="D7CEC9"/>
                </a:solidFill>
              </a:rPr>
              <a:t>Episode result: a working app, a walkthrough, and implementation assets a developer can inspect or reuse.</a:t>
            </a:r>
          </a:p>
        </p:txBody>
      </p:sp>
      <p:sp>
        <p:nvSpPr>
          <p:cNvPr id="7" name="YouTube-rail">
            <a:extLst xmlns:a="http://schemas.openxmlformats.org/drawingml/2006/main">
              <a:ext uri="{FF2B5EF4-FFF2-40B4-BE49-F238E27FC236}">
                <a16:creationId xmlns:a16="http://schemas.microsoft.com/office/drawing/2014/main" id="{842620BC-A401-4F1D-A85D-D0C75DA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YouTube-label">
            <a:extLst xmlns:a="http://schemas.openxmlformats.org/drawingml/2006/main">
              <a:ext uri="{FF2B5EF4-FFF2-40B4-BE49-F238E27FC236}">
                <a16:creationId xmlns:a16="http://schemas.microsoft.com/office/drawing/2014/main" id="{00F502F5-E9DD-493B-9B4C-569B978F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YouTube</a:t>
            </a:r>
          </a:p>
        </p:txBody>
      </p:sp>
      <p:sp>
        <p:nvSpPr>
          <p:cNvPr id="9" name="YouTube-detail">
            <a:extLst xmlns:a="http://schemas.openxmlformats.org/drawingml/2006/main">
              <a:ext uri="{FF2B5EF4-FFF2-40B4-BE49-F238E27FC236}">
                <a16:creationId xmlns:a16="http://schemas.microsoft.com/office/drawing/2014/main" id="{2166CEC9-4DAB-46B7-BB01-D062ED5C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245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Full practical walkthrough with the story, build path, and decisions.</a:t>
            </a:r>
          </a:p>
        </p:txBody>
      </p:sp>
      <p:sp>
        <p:nvSpPr>
          <p:cNvPr id="10" name="Shorts-rail">
            <a:extLst xmlns:a="http://schemas.openxmlformats.org/drawingml/2006/main">
              <a:ext uri="{FF2B5EF4-FFF2-40B4-BE49-F238E27FC236}">
                <a16:creationId xmlns:a16="http://schemas.microsoft.com/office/drawing/2014/main" id="{C25A0CB8-777A-4559-B1FC-2E418DD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rts-label">
            <a:extLst xmlns:a="http://schemas.openxmlformats.org/drawingml/2006/main">
              <a:ext uri="{FF2B5EF4-FFF2-40B4-BE49-F238E27FC236}">
                <a16:creationId xmlns:a16="http://schemas.microsoft.com/office/drawing/2014/main" id="{CFE54C0C-34EA-4FCF-9F9E-72C3F4E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Shorts</a:t>
            </a:r>
          </a:p>
        </p:txBody>
      </p:sp>
      <p:sp>
        <p:nvSpPr>
          <p:cNvPr id="12" name="Shorts-detail">
            <a:extLst xmlns:a="http://schemas.openxmlformats.org/drawingml/2006/main">
              <a:ext uri="{FF2B5EF4-FFF2-40B4-BE49-F238E27FC236}">
                <a16:creationId xmlns:a16="http://schemas.microsoft.com/office/drawing/2014/main" id="{BACE1DE5-0492-49E6-A036-98324D3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45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Three to five quick clips built around the demo's strongest moments.</a:t>
            </a:r>
          </a:p>
        </p:txBody>
      </p:sp>
      <p:sp>
        <p:nvSpPr>
          <p:cNvPr id="13" name="GitHub-rail">
            <a:extLst xmlns:a="http://schemas.openxmlformats.org/drawingml/2006/main">
              <a:ext uri="{FF2B5EF4-FFF2-40B4-BE49-F238E27FC236}">
                <a16:creationId xmlns:a16="http://schemas.microsoft.com/office/drawing/2014/main" id="{2A9ADA07-4AAE-4185-876E-DEEE7593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itHub-label">
            <a:extLst xmlns:a="http://schemas.openxmlformats.org/drawingml/2006/main">
              <a:ext uri="{FF2B5EF4-FFF2-40B4-BE49-F238E27FC236}">
                <a16:creationId xmlns:a16="http://schemas.microsoft.com/office/drawing/2014/main" id="{44F76E08-C5C1-4B09-A1F8-3D71F93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GitHub</a:t>
            </a:r>
          </a:p>
        </p:txBody>
      </p:sp>
      <p:sp>
        <p:nvSpPr>
          <p:cNvPr id="15" name="GitHub-detail">
            <a:extLst xmlns:a="http://schemas.openxmlformats.org/drawingml/2006/main">
              <a:ext uri="{FF2B5EF4-FFF2-40B4-BE49-F238E27FC236}">
                <a16:creationId xmlns:a16="http://schemas.microsoft.com/office/drawing/2014/main" id="{B0E893C5-09B0-4C9C-A482-518933DF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OML files, setup steps, readme, architecture notes, and integration details.</a:t>
            </a:r>
          </a:p>
        </p:txBody>
      </p:sp>
      <p:sp>
        <p:nvSpPr>
          <p:cNvPr id="16" name="Forge-rail">
            <a:extLst xmlns:a="http://schemas.openxmlformats.org/drawingml/2006/main">
              <a:ext uri="{FF2B5EF4-FFF2-40B4-BE49-F238E27FC236}">
                <a16:creationId xmlns:a16="http://schemas.microsoft.com/office/drawing/2014/main" id="{AB8B9062-195B-46D9-BCB4-EA0E262A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rge-label">
            <a:extLst xmlns:a="http://schemas.openxmlformats.org/drawingml/2006/main">
              <a:ext uri="{FF2B5EF4-FFF2-40B4-BE49-F238E27FC236}">
                <a16:creationId xmlns:a16="http://schemas.microsoft.com/office/drawing/2014/main" id="{DB897135-20C8-444B-91D8-0AD7E06B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Forge</a:t>
            </a:r>
          </a:p>
        </p:txBody>
      </p:sp>
      <p:sp>
        <p:nvSpPr>
          <p:cNvPr id="18" name="Forge-detail">
            <a:extLst xmlns:a="http://schemas.openxmlformats.org/drawingml/2006/main">
              <a:ext uri="{FF2B5EF4-FFF2-40B4-BE49-F238E27FC236}">
                <a16:creationId xmlns:a16="http://schemas.microsoft.com/office/drawing/2014/main" id="{7E0A69CE-B573-44EB-A627-8C4F46DA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Reusable app, component, connector, or starter when appropriate.</a:t>
            </a:r>
          </a:p>
        </p:txBody>
      </p:sp>
      <p:sp>
        <p:nvSpPr>
          <p:cNvPr id="19" name="Social and enablement-rail">
            <a:extLst xmlns:a="http://schemas.openxmlformats.org/drawingml/2006/main">
              <a:ext uri="{FF2B5EF4-FFF2-40B4-BE49-F238E27FC236}">
                <a16:creationId xmlns:a16="http://schemas.microsoft.com/office/drawing/2014/main" id="{98675C6E-0EE5-42FE-A2F3-75E2691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291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cial and enablement-label">
            <a:extLst xmlns:a="http://schemas.openxmlformats.org/drawingml/2006/main">
              <a:ext uri="{FF2B5EF4-FFF2-40B4-BE49-F238E27FC236}">
                <a16:creationId xmlns:a16="http://schemas.microsoft.com/office/drawing/2014/main" id="{BFFF8D30-FE48-48F8-B37B-4808E7A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560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C1B1A"/>
                </a:solidFill>
              </a:defRPr>
            </a:pPr>
            <a:r>
              <a:rPr sz="1725" b="1" i="0">
                <a:solidFill>
                  <a:srgbClr val="1C1B1A"/>
                </a:solidFill>
              </a:rPr>
              <a:t>Social and enablement</a:t>
            </a:r>
          </a:p>
        </p:txBody>
      </p:sp>
      <p:sp>
        <p:nvSpPr>
          <p:cNvPr id="21" name="Social and enablement-detail">
            <a:extLst xmlns:a="http://schemas.openxmlformats.org/drawingml/2006/main">
              <a:ext uri="{FF2B5EF4-FFF2-40B4-BE49-F238E27FC236}">
                <a16:creationId xmlns:a16="http://schemas.microsoft.com/office/drawing/2014/main" id="{2B3B532E-7E77-40C5-A68C-34799230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5300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6660"/>
                </a:solidFill>
              </a:defRPr>
            </a:pPr>
            <a:r>
              <a:rPr sz="1275" b="0" i="0">
                <a:solidFill>
                  <a:srgbClr val="6D6660"/>
                </a:solidFill>
              </a:rPr>
              <a:t>LinkedIn posts, launch snippets, and internal demo talking points.</a:t>
            </a:r>
          </a:p>
        </p:txBody>
      </p:sp>
      <p:sp>
        <p:nvSpPr>
          <p:cNvPr id="22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3736381-87C5-4DDF-AF25-E8D290DD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8215356F-8D74-4E85-8FE8-2FC47A84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Build It Live / 5</a:t>
            </a:r>
          </a:p>
        </p:txBody>
      </p:sp>
    </p:spTree>
    <p:extLst>
      <p:ext uri="{BB962C8B-B14F-4D97-AF65-F5344CB8AC3E}">
        <p14:creationId xmlns:p14="http://schemas.microsoft.com/office/powerpoint/2010/main" val="735979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A69BB40-EAA9-4CD1-9609-6656E3A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291C"/>
                </a:solidFill>
              </a:defRPr>
            </a:pPr>
            <a:r>
              <a:rPr sz="900" b="1" i="0">
                <a:solidFill>
                  <a:srgbClr val="D9291C"/>
                </a:solidFill>
              </a:rPr>
              <a:t>WHY DEVREL SHOULD CARE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902DC8-54AC-4A93-9AC9-683B19C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C1B1A"/>
                </a:solidFill>
              </a:defRPr>
            </a:pPr>
            <a:r>
              <a:rPr sz="3000" b="1" i="0">
                <a:solidFill>
                  <a:srgbClr val="1C1B1A"/>
                </a:solidFill>
              </a:rPr>
              <a:t>The value is bigger than video views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B92886F-B38B-4383-AF9E-02C59502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D6660"/>
                </a:solidFill>
              </a:defRPr>
            </a:pPr>
            <a:r>
              <a:rPr sz="1650" b="0" i="0">
                <a:solidFill>
                  <a:srgbClr val="6D6660"/>
                </a:solidFill>
              </a:rPr>
              <a:t>Build It Live creates a practical library of proof points that can support community, launches, search, and field teams at the same time.</a:t>
            </a:r>
          </a:p>
        </p:txBody>
      </p:sp>
      <p:sp>
        <p:nvSpPr>
          <p:cNvPr id="4" name="mini-card">
            <a:extLst xmlns:a="http://schemas.openxmlformats.org/drawingml/2006/main">
              <a:ext uri="{FF2B5EF4-FFF2-40B4-BE49-F238E27FC236}">
                <a16:creationId xmlns:a16="http://schemas.microsoft.com/office/drawing/2014/main" id="{57CED791-D307-434F-91C7-BEDD1BE3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95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5" name="mini-card-bar">
            <a:extLst xmlns:a="http://schemas.openxmlformats.org/drawingml/2006/main">
              <a:ext uri="{FF2B5EF4-FFF2-40B4-BE49-F238E27FC236}">
                <a16:creationId xmlns:a16="http://schemas.microsoft.com/office/drawing/2014/main" id="{0CC9D352-16EC-4E90-AAFC-7E845FDB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ini-card-title">
            <a:extLst xmlns:a="http://schemas.openxmlformats.org/drawingml/2006/main">
              <a:ext uri="{FF2B5EF4-FFF2-40B4-BE49-F238E27FC236}">
                <a16:creationId xmlns:a16="http://schemas.microsoft.com/office/drawing/2014/main" id="{B65FF361-EC7C-427A-87EB-3145EBE8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1B1A"/>
                </a:solidFill>
              </a:defRPr>
            </a:pPr>
            <a:r>
              <a:rPr sz="1575" b="1" i="0">
                <a:solidFill>
                  <a:srgbClr val="1C1B1A"/>
                </a:solidFill>
              </a:rPr>
              <a:t>Developer interest</a:t>
            </a:r>
          </a:p>
        </p:txBody>
      </p:sp>
      <p:sp>
        <p:nvSpPr>
          <p:cNvPr id="7" name="mini-card-body">
            <a:extLst xmlns:a="http://schemas.openxmlformats.org/drawingml/2006/main">
              <a:ext uri="{FF2B5EF4-FFF2-40B4-BE49-F238E27FC236}">
                <a16:creationId xmlns:a16="http://schemas.microsoft.com/office/drawing/2014/main" id="{13B4573C-8A8E-469A-80B1-AB7C701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171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D6660"/>
                </a:solidFill>
              </a:defRPr>
            </a:pPr>
            <a:r>
              <a:rPr sz="1200" b="0" i="0">
                <a:solidFill>
                  <a:srgbClr val="6D6660"/>
                </a:solidFill>
              </a:rPr>
              <a:t>Real examples lower the effort required to understand where OutSystems fits.</a:t>
            </a:r>
          </a:p>
        </p:txBody>
      </p:sp>
      <p:sp>
        <p:nvSpPr>
          <p:cNvPr id="8" name="mini-card">
            <a:extLst xmlns:a="http://schemas.openxmlformats.org/drawingml/2006/main">
              <a:ext uri="{FF2B5EF4-FFF2-40B4-BE49-F238E27FC236}">
                <a16:creationId xmlns:a16="http://schemas.microsoft.com/office/drawing/2014/main" id="{2C350B26-0DC9-4B78-965F-9D674356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495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9" name="mini-card-bar">
            <a:extLst xmlns:a="http://schemas.openxmlformats.org/drawingml/2006/main">
              <a:ext uri="{FF2B5EF4-FFF2-40B4-BE49-F238E27FC236}">
                <a16:creationId xmlns:a16="http://schemas.microsoft.com/office/drawing/2014/main" id="{3E7089AE-BAF7-4707-90FE-ABB7551D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ni-card-title">
            <a:extLst xmlns:a="http://schemas.openxmlformats.org/drawingml/2006/main">
              <a:ext uri="{FF2B5EF4-FFF2-40B4-BE49-F238E27FC236}">
                <a16:creationId xmlns:a16="http://schemas.microsoft.com/office/drawing/2014/main" id="{3E171ABF-DE6F-482E-B447-36BB6DD4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1B1A"/>
                </a:solidFill>
              </a:defRPr>
            </a:pPr>
            <a:r>
              <a:rPr sz="1575" b="1" i="0">
                <a:solidFill>
                  <a:srgbClr val="1C1B1A"/>
                </a:solidFill>
              </a:rPr>
              <a:t>Launch support</a:t>
            </a:r>
          </a:p>
        </p:txBody>
      </p:sp>
      <p:sp>
        <p:nvSpPr>
          <p:cNvPr id="11" name="mini-card-body">
            <a:extLst xmlns:a="http://schemas.openxmlformats.org/drawingml/2006/main">
              <a:ext uri="{FF2B5EF4-FFF2-40B4-BE49-F238E27FC236}">
                <a16:creationId xmlns:a16="http://schemas.microsoft.com/office/drawing/2014/main" id="{EBEC70AC-B0A8-4B2D-B44D-60A2044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2171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D6660"/>
                </a:solidFill>
              </a:defRPr>
            </a:pPr>
            <a:r>
              <a:rPr sz="1200" b="0" i="0">
                <a:solidFill>
                  <a:srgbClr val="6D6660"/>
                </a:solidFill>
              </a:rPr>
              <a:t>Release messages get an immediate build that shows the new capability in context.</a:t>
            </a:r>
          </a:p>
        </p:txBody>
      </p:sp>
      <p:sp>
        <p:nvSpPr>
          <p:cNvPr id="12" name="mini-card">
            <a:extLst xmlns:a="http://schemas.openxmlformats.org/drawingml/2006/main">
              <a:ext uri="{FF2B5EF4-FFF2-40B4-BE49-F238E27FC236}">
                <a16:creationId xmlns:a16="http://schemas.microsoft.com/office/drawing/2014/main" id="{9A829ECE-A6DB-4EB8-B481-B471D70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495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13" name="mini-card-bar">
            <a:extLst xmlns:a="http://schemas.openxmlformats.org/drawingml/2006/main">
              <a:ext uri="{FF2B5EF4-FFF2-40B4-BE49-F238E27FC236}">
                <a16:creationId xmlns:a16="http://schemas.microsoft.com/office/drawing/2014/main" id="{F594596D-2199-47D6-8537-EC3FCA69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ni-card-title">
            <a:extLst xmlns:a="http://schemas.openxmlformats.org/drawingml/2006/main">
              <a:ext uri="{FF2B5EF4-FFF2-40B4-BE49-F238E27FC236}">
                <a16:creationId xmlns:a16="http://schemas.microsoft.com/office/drawing/2014/main" id="{CC4C85FD-5576-4180-A41B-D8A06B0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1B1A"/>
                </a:solidFill>
              </a:defRPr>
            </a:pPr>
            <a:r>
              <a:rPr sz="1575" b="1" i="0">
                <a:solidFill>
                  <a:srgbClr val="1C1B1A"/>
                </a:solidFill>
              </a:rPr>
              <a:t>Search and AEO</a:t>
            </a:r>
          </a:p>
        </p:txBody>
      </p:sp>
      <p:sp>
        <p:nvSpPr>
          <p:cNvPr id="15" name="mini-card-body">
            <a:extLst xmlns:a="http://schemas.openxmlformats.org/drawingml/2006/main">
              <a:ext uri="{FF2B5EF4-FFF2-40B4-BE49-F238E27FC236}">
                <a16:creationId xmlns:a16="http://schemas.microsoft.com/office/drawing/2014/main" id="{BEA7E0B1-BC64-4716-BE27-60C2849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2171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D6660"/>
                </a:solidFill>
              </a:defRPr>
            </a:pPr>
            <a:r>
              <a:rPr sz="1200" b="0" i="0">
                <a:solidFill>
                  <a:srgbClr val="6D6660"/>
                </a:solidFill>
              </a:rPr>
              <a:t>Specific demos, readmes, and repos give search systems clearer answers to surface.</a:t>
            </a:r>
          </a:p>
        </p:txBody>
      </p:sp>
      <p:sp>
        <p:nvSpPr>
          <p:cNvPr id="16" name="mini-card">
            <a:extLst xmlns:a="http://schemas.openxmlformats.org/drawingml/2006/main">
              <a:ext uri="{FF2B5EF4-FFF2-40B4-BE49-F238E27FC236}">
                <a16:creationId xmlns:a16="http://schemas.microsoft.com/office/drawing/2014/main" id="{2BDBC1C3-1D87-496F-8454-726E05D8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495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17" name="mini-card-bar">
            <a:extLst xmlns:a="http://schemas.openxmlformats.org/drawingml/2006/main">
              <a:ext uri="{FF2B5EF4-FFF2-40B4-BE49-F238E27FC236}">
                <a16:creationId xmlns:a16="http://schemas.microsoft.com/office/drawing/2014/main" id="{A7055919-A9D6-475E-B9EB-85ADCAF7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card-title">
            <a:extLst xmlns:a="http://schemas.openxmlformats.org/drawingml/2006/main">
              <a:ext uri="{FF2B5EF4-FFF2-40B4-BE49-F238E27FC236}">
                <a16:creationId xmlns:a16="http://schemas.microsoft.com/office/drawing/2014/main" id="{F031E904-7690-41DC-90F4-4274CA1B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C1B1A"/>
                </a:solidFill>
              </a:defRPr>
            </a:pPr>
            <a:r>
              <a:rPr sz="1575" b="1" i="0">
                <a:solidFill>
                  <a:srgbClr val="1C1B1A"/>
                </a:solidFill>
              </a:rPr>
              <a:t>Field reuse</a:t>
            </a:r>
          </a:p>
        </p:txBody>
      </p:sp>
      <p:sp>
        <p:nvSpPr>
          <p:cNvPr id="19" name="mini-card-body">
            <a:extLst xmlns:a="http://schemas.openxmlformats.org/drawingml/2006/main">
              <a:ext uri="{FF2B5EF4-FFF2-40B4-BE49-F238E27FC236}">
                <a16:creationId xmlns:a16="http://schemas.microsoft.com/office/drawing/2014/main" id="{DA4858AC-3D4B-498D-9641-E4576F42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2171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D6660"/>
                </a:solidFill>
              </a:defRPr>
            </a:pPr>
            <a:r>
              <a:rPr sz="1200" b="0" i="0">
                <a:solidFill>
                  <a:srgbClr val="6D6660"/>
                </a:solidFill>
              </a:rPr>
              <a:t>Sales and solutions teams get compact demos, scripts, and assets they can point to.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604D62F-8D4D-443B-A995-4FCABD7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948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C1B1A"/>
                </a:solidFill>
              </a:defRPr>
            </a:pPr>
            <a:r>
              <a:rPr sz="1650" b="1" i="0">
                <a:solidFill>
                  <a:srgbClr val="1C1B1A"/>
                </a:solidFill>
              </a:rPr>
              <a:t>Measure the motion with submissions, watch time, short-form engagement, GitHub activity, Forge installs, community conversations, and internal reuse.</a:t>
            </a:r>
          </a:p>
        </p:txBody>
      </p:sp>
      <p:sp>
        <p:nvSpPr>
          <p:cNvPr id="21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2CC5334-309F-4A9E-82ED-A9C680C3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C6A22F10-117F-4649-88CF-38F0927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Build It Live / 6</a:t>
            </a:r>
          </a:p>
        </p:txBody>
      </p:sp>
    </p:spTree>
    <p:extLst>
      <p:ext uri="{BB962C8B-B14F-4D97-AF65-F5344CB8AC3E}">
        <p14:creationId xmlns:p14="http://schemas.microsoft.com/office/powerpoint/2010/main" val="1823040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B8D813A-32EB-424D-B7E3-85D1A90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291C"/>
                </a:solidFill>
              </a:defRPr>
            </a:pPr>
            <a:r>
              <a:rPr sz="900" b="1" i="0">
                <a:solidFill>
                  <a:srgbClr val="D9291C"/>
                </a:solidFill>
              </a:rPr>
              <a:t>LAUNCH ALIGNMENT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5CC2F8-D261-499E-A222-A9438200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C1B1A"/>
                </a:solidFill>
              </a:defRPr>
            </a:pPr>
            <a:r>
              <a:rPr sz="3000" b="1" i="0">
                <a:solidFill>
                  <a:srgbClr val="1C1B1A"/>
                </a:solidFill>
              </a:rPr>
              <a:t>Feature releases get a practical companion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AFBA41-6450-46E4-83B2-101B6B1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C2928"/>
                </a:solidFill>
              </a:defRPr>
            </a:pPr>
            <a:r>
              <a:rPr sz="1800" b="1" i="0">
                <a:solidFill>
                  <a:srgbClr val="2C2928"/>
                </a:solidFill>
              </a:rPr>
              <a:t>Announcements tell people what changed. Build It Live shows what the change unlocks.</a:t>
            </a:r>
          </a:p>
        </p:txBody>
      </p:sp>
      <p:sp>
        <p:nvSpPr>
          <p:cNvPr id="4" name="step-dot">
            <a:extLst xmlns:a="http://schemas.openxmlformats.org/drawingml/2006/main">
              <a:ext uri="{FF2B5EF4-FFF2-40B4-BE49-F238E27FC236}">
                <a16:creationId xmlns:a16="http://schemas.microsoft.com/office/drawing/2014/main" id="{92D0D426-A16F-485A-BA2C-FDDB40C5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B738B0A-9833-4033-810F-F8B826CA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tep-title">
            <a:extLst xmlns:a="http://schemas.openxmlformats.org/drawingml/2006/main">
              <a:ext uri="{FF2B5EF4-FFF2-40B4-BE49-F238E27FC236}">
                <a16:creationId xmlns:a16="http://schemas.microsoft.com/office/drawing/2014/main" id="{0BB8B366-2662-4BA2-9F73-76F01682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C1B1A"/>
                </a:solidFill>
              </a:defRPr>
            </a:pPr>
            <a:r>
              <a:rPr sz="1650" b="1" i="0">
                <a:solidFill>
                  <a:srgbClr val="1C1B1A"/>
                </a:solidFill>
              </a:rPr>
              <a:t>Before launch</a:t>
            </a:r>
          </a:p>
        </p:txBody>
      </p:sp>
      <p:sp>
        <p:nvSpPr>
          <p:cNvPr id="7" name="step-subtitle">
            <a:extLst xmlns:a="http://schemas.openxmlformats.org/drawingml/2006/main">
              <a:ext uri="{FF2B5EF4-FFF2-40B4-BE49-F238E27FC236}">
                <a16:creationId xmlns:a16="http://schemas.microsoft.com/office/drawing/2014/main" id="{5BFB1F50-4E3E-4935-9334-C5CD3CD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D6660"/>
                </a:solidFill>
              </a:defRPr>
            </a:pPr>
            <a:r>
              <a:rPr sz="1125" b="0" i="0">
                <a:solidFill>
                  <a:srgbClr val="6D6660"/>
                </a:solidFill>
              </a:rPr>
              <a:t>Pull one or two release-aligned requests from the backlog.</a:t>
            </a:r>
          </a:p>
        </p:txBody>
      </p:sp>
      <p:sp>
        <p:nvSpPr>
          <p:cNvPr id="8" name="step-dot">
            <a:extLst xmlns:a="http://schemas.openxmlformats.org/drawingml/2006/main">
              <a:ext uri="{FF2B5EF4-FFF2-40B4-BE49-F238E27FC236}">
                <a16:creationId xmlns:a16="http://schemas.microsoft.com/office/drawing/2014/main" id="{32DD79BF-391D-48B7-B81F-C22D9CA4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CB544C6-0067-4A28-BAC3-220FDCA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tep-title">
            <a:extLst xmlns:a="http://schemas.openxmlformats.org/drawingml/2006/main">
              <a:ext uri="{FF2B5EF4-FFF2-40B4-BE49-F238E27FC236}">
                <a16:creationId xmlns:a16="http://schemas.microsoft.com/office/drawing/2014/main" id="{2AF4892A-5395-4B3F-857F-A3A0D1A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C1B1A"/>
                </a:solidFill>
              </a:defRPr>
            </a:pPr>
            <a:r>
              <a:rPr sz="1650" b="1" i="0">
                <a:solidFill>
                  <a:srgbClr val="1C1B1A"/>
                </a:solidFill>
              </a:rPr>
              <a:t>Launch week</a:t>
            </a:r>
          </a:p>
        </p:txBody>
      </p:sp>
      <p:sp>
        <p:nvSpPr>
          <p:cNvPr id="11" name="step-subtitle">
            <a:extLst xmlns:a="http://schemas.openxmlformats.org/drawingml/2006/main">
              <a:ext uri="{FF2B5EF4-FFF2-40B4-BE49-F238E27FC236}">
                <a16:creationId xmlns:a16="http://schemas.microsoft.com/office/drawing/2014/main" id="{30DA344C-9EA6-40A2-A016-9341EA8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622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D6660"/>
                </a:solidFill>
              </a:defRPr>
            </a:pPr>
            <a:r>
              <a:rPr sz="1125" b="0" i="0">
                <a:solidFill>
                  <a:srgbClr val="6D6660"/>
                </a:solidFill>
              </a:rPr>
              <a:t>Publish the companion build alongside the announcement.</a:t>
            </a:r>
          </a:p>
        </p:txBody>
      </p:sp>
      <p:sp>
        <p:nvSpPr>
          <p:cNvPr id="12" name="step-dot">
            <a:extLst xmlns:a="http://schemas.openxmlformats.org/drawingml/2006/main">
              <a:ext uri="{FF2B5EF4-FFF2-40B4-BE49-F238E27FC236}">
                <a16:creationId xmlns:a16="http://schemas.microsoft.com/office/drawing/2014/main" id="{BD3F2722-651C-4894-B25D-C4D8A93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7A4556C-A12A-4947-9830-19F84330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tep-title">
            <a:extLst xmlns:a="http://schemas.openxmlformats.org/drawingml/2006/main">
              <a:ext uri="{FF2B5EF4-FFF2-40B4-BE49-F238E27FC236}">
                <a16:creationId xmlns:a16="http://schemas.microsoft.com/office/drawing/2014/main" id="{03D9B32B-943F-4522-8AD7-535FF79D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C1B1A"/>
                </a:solidFill>
              </a:defRPr>
            </a:pPr>
            <a:r>
              <a:rPr sz="1650" b="1" i="0">
                <a:solidFill>
                  <a:srgbClr val="1C1B1A"/>
                </a:solidFill>
              </a:rPr>
              <a:t>After launch</a:t>
            </a:r>
          </a:p>
        </p:txBody>
      </p:sp>
      <p:sp>
        <p:nvSpPr>
          <p:cNvPr id="15" name="step-subtitle">
            <a:extLst xmlns:a="http://schemas.openxmlformats.org/drawingml/2006/main">
              <a:ext uri="{FF2B5EF4-FFF2-40B4-BE49-F238E27FC236}">
                <a16:creationId xmlns:a16="http://schemas.microsoft.com/office/drawing/2014/main" id="{94B98BA8-4200-4273-8BC1-F62B008B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D6660"/>
                </a:solidFill>
              </a:defRPr>
            </a:pPr>
            <a:r>
              <a:rPr sz="1125" b="0" i="0">
                <a:solidFill>
                  <a:srgbClr val="6D6660"/>
                </a:solidFill>
              </a:rPr>
              <a:t>Clip, document, package, and route the build to the right audiences.</a:t>
            </a:r>
          </a:p>
        </p:txBody>
      </p:sp>
      <p:sp>
        <p:nvSpPr>
          <p:cNvPr id="16" name="examples-bg">
            <a:extLst xmlns:a="http://schemas.openxmlformats.org/drawingml/2006/main">
              <a:ext uri="{FF2B5EF4-FFF2-40B4-BE49-F238E27FC236}">
                <a16:creationId xmlns:a16="http://schemas.microsoft.com/office/drawing/2014/main" id="{F8B7219F-57AB-47DE-8D4B-3831B12D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0248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866BEB-AC4E-44E6-8B17-D8343BB9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291C"/>
                </a:solidFill>
              </a:defRPr>
            </a:pPr>
            <a:r>
              <a:rPr sz="1275" b="1" i="0">
                <a:solidFill>
                  <a:srgbClr val="D9291C"/>
                </a:solidFill>
              </a:rPr>
              <a:t>Possible companion builds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7A236F6-45EB-4B33-BCC4-AFAE0DFE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C1B1A"/>
                </a:solidFill>
              </a:defRPr>
            </a:pPr>
            <a:r>
              <a:rPr sz="1500" b="0" i="0">
                <a:solidFill>
                  <a:srgbClr val="1C1B1A"/>
                </a:solidFill>
              </a:rPr>
              <a:t>Mentor-assisted app build   |   Codex-style developer workflow   |   External API integration   |   Early feature preview</a:t>
            </a:r>
          </a:p>
        </p:txBody>
      </p:sp>
      <p:sp>
        <p:nvSpPr>
          <p:cNvPr id="1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4BF043C-E9BE-413B-A574-B945DEF7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000E3246-84E9-4476-A19A-75B965C0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D6660"/>
                </a:solidFill>
              </a:defRPr>
            </a:pPr>
            <a:r>
              <a:rPr sz="975" b="0" i="0">
                <a:solidFill>
                  <a:srgbClr val="6D6660"/>
                </a:solidFill>
              </a:rPr>
              <a:t>Build It Live / 7</a:t>
            </a:r>
          </a:p>
        </p:txBody>
      </p:sp>
    </p:spTree>
    <p:extLst>
      <p:ext uri="{BB962C8B-B14F-4D97-AF65-F5344CB8AC3E}">
        <p14:creationId xmlns:p14="http://schemas.microsoft.com/office/powerpoint/2010/main" val="1672242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6CE0255-7D0E-427C-93E7-4CD6CB5C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8B8B2"/>
                </a:solidFill>
              </a:defRPr>
            </a:pPr>
            <a:r>
              <a:rPr sz="900" b="1" i="0">
                <a:solidFill>
                  <a:srgbClr val="F8B8B2"/>
                </a:solidFill>
              </a:rPr>
              <a:t>RECOMMENDED NEXT STEP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E4E060-F222-4D41-8B36-4CED2301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Pilot the motion before scaling it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85FAE4F-5848-4327-B3BF-6E15569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7CEC9"/>
                </a:solidFill>
              </a:defRPr>
            </a:pPr>
            <a:r>
              <a:rPr sz="1725" b="0" i="0">
                <a:solidFill>
                  <a:srgbClr val="D7CEC9"/>
                </a:solidFill>
              </a:rPr>
              <a:t>A small pilot can validate the format, operating rhythm, and asset reuse without committing to a large production machine.</a:t>
            </a:r>
          </a:p>
        </p:txBody>
      </p:sp>
      <p:sp>
        <p:nvSpPr>
          <p:cNvPr id="4" name="pilot-number">
            <a:extLst xmlns:a="http://schemas.openxmlformats.org/drawingml/2006/main">
              <a:ext uri="{FF2B5EF4-FFF2-40B4-BE49-F238E27FC236}">
                <a16:creationId xmlns:a16="http://schemas.microsoft.com/office/drawing/2014/main" id="{AFD0FB67-8E24-4CB1-BA90-617DC7F2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C33598-01A3-4A60-9A1A-B6D5C32B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FFFFFF"/>
                </a:solidFill>
              </a:defRPr>
            </a:pPr>
            <a:r>
              <a:rPr sz="5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387C79-F0DB-420A-8C2E-230C110D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episodes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04DF9C-3646-4180-BCDA-E0E7063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EAD7D3"/>
                </a:solidFill>
              </a:defRPr>
            </a:pPr>
            <a:r>
              <a:rPr sz="1500" b="0" i="0">
                <a:solidFill>
                  <a:srgbClr val="EAD7D3"/>
                </a:solidFill>
              </a:rPr>
              <a:t>over 8-10 weeks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773999-B39C-4C86-B17B-4BDB89F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Pilot mix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EEE1DC72-8B89-40DC-9541-BA0D6CB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93757346-164E-4081-8BFD-ECC7435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9085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5DF"/>
                </a:solidFill>
              </a:defRPr>
            </a:pPr>
            <a:r>
              <a:rPr sz="1500" b="0" i="0">
                <a:solidFill>
                  <a:srgbClr val="EFE5DF"/>
                </a:solidFill>
              </a:rPr>
              <a:t>AI-assisted app build with Mentor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A18B228F-C6C4-446E-8E2E-4E3EF6D3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9DACF6F-51EE-4405-A8A2-39C51C52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5DF"/>
                </a:solidFill>
              </a:defRPr>
            </a:pPr>
            <a:r>
              <a:rPr sz="1500" b="0" i="0">
                <a:solidFill>
                  <a:srgbClr val="EFE5DF"/>
                </a:solidFill>
              </a:rPr>
              <a:t>Codex-style developer workflow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38427EE8-9164-4900-8FD6-7047880F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0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copy">
            <a:extLst xmlns:a="http://schemas.openxmlformats.org/drawingml/2006/main">
              <a:ext uri="{FF2B5EF4-FFF2-40B4-BE49-F238E27FC236}">
                <a16:creationId xmlns:a16="http://schemas.microsoft.com/office/drawing/2014/main" id="{E09D5511-EFAC-4882-95CE-7527579C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3385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5DF"/>
                </a:solidFill>
              </a:defRPr>
            </a:pPr>
            <a:r>
              <a:rPr sz="1500" b="0" i="0">
                <a:solidFill>
                  <a:srgbClr val="EFE5DF"/>
                </a:solidFill>
              </a:rPr>
              <a:t>External service integration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9C09D969-717A-448C-99EF-256F5B4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81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AE6D920C-9E92-435D-BFF3-78349211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5DF"/>
                </a:solidFill>
              </a:defRPr>
            </a:pPr>
            <a:r>
              <a:rPr sz="1500" b="0" i="0">
                <a:solidFill>
                  <a:srgbClr val="EFE5DF"/>
                </a:solidFill>
              </a:rPr>
              <a:t>Feature-release companion demo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5754642-21AB-4B98-972F-3E7052AB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C7EDB8A-B44B-477E-A31B-327B3CC2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Approve a lightweight pilot lane, nominate release tie-ins, and identify reviewers who can help keep demos credible.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1CEA26B-C62A-432E-8640-DF48B6AF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318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7CEC9"/>
                </a:solidFill>
              </a:defRPr>
            </a:pPr>
            <a:r>
              <a:rPr sz="1425" b="0" i="0">
                <a:solidFill>
                  <a:srgbClr val="D7CEC9"/>
                </a:solidFill>
              </a:rPr>
              <a:t>Decision needed: whether DevRel wants to sponsor the pilot and where it should sit in the upcoming content calendar.</a:t>
            </a:r>
          </a:p>
        </p:txBody>
      </p:sp>
      <p:sp>
        <p:nvSpPr>
          <p:cNvPr id="20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6013DE4-6DFB-4BDB-8FAC-2AC6103C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3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BC593A84-14B3-4F65-B754-B3D3E98A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C9BDB8"/>
                </a:solidFill>
              </a:defRPr>
            </a:pPr>
            <a:r>
              <a:rPr sz="975" b="0" i="0">
                <a:solidFill>
                  <a:srgbClr val="C9BDB8"/>
                </a:solidFill>
              </a:rPr>
              <a:t>Build It Live / 8</a:t>
            </a:r>
          </a:p>
        </p:txBody>
      </p:sp>
    </p:spTree>
    <p:extLst>
      <p:ext uri="{BB962C8B-B14F-4D97-AF65-F5344CB8AC3E}">
        <p14:creationId xmlns:p14="http://schemas.microsoft.com/office/powerpoint/2010/main" val="1049095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2026-07-12T12:01:11.5760000Z</dcterms:created>
  <dcterms:modified xsi:type="dcterms:W3CDTF">2026-07-12T12:01:11.5760000Z</dcterms:modified>
</coreProperties>
</file>